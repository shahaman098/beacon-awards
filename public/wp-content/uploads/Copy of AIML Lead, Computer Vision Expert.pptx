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alibri (MS) Bold" charset="1" panose="020F0702030404030204"/>
      <p:regular r:id="rId22"/>
    </p:embeddedFont>
    <p:embeddedFont>
      <p:font typeface="Poppins Bold" charset="1" panose="00000800000000000000"/>
      <p:regular r:id="rId23"/>
    </p:embeddedFont>
    <p:embeddedFont>
      <p:font typeface="Poppins" charset="1" panose="000005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4913" r="0" b="-2491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41280"/>
            <a:chOff x="0" y="0"/>
            <a:chExt cx="24384000" cy="13655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655039"/>
            </a:xfrm>
            <a:custGeom>
              <a:avLst/>
              <a:gdLst/>
              <a:ahLst/>
              <a:cxnLst/>
              <a:rect r="r" b="b" t="t" l="l"/>
              <a:pathLst>
                <a:path h="1365503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55039"/>
                  </a:lnTo>
                  <a:lnTo>
                    <a:pt x="0" y="13655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23" r="0" b="-223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99386" y="94298"/>
            <a:ext cx="14588614" cy="10574436"/>
            <a:chOff x="0" y="0"/>
            <a:chExt cx="19451485" cy="140992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51447" cy="14099287"/>
            </a:xfrm>
            <a:custGeom>
              <a:avLst/>
              <a:gdLst/>
              <a:ahLst/>
              <a:cxnLst/>
              <a:rect r="r" b="b" t="t" l="l"/>
              <a:pathLst>
                <a:path h="14099287" w="19451447">
                  <a:moveTo>
                    <a:pt x="0" y="0"/>
                  </a:moveTo>
                  <a:lnTo>
                    <a:pt x="19451447" y="0"/>
                  </a:lnTo>
                  <a:lnTo>
                    <a:pt x="19451447" y="14099287"/>
                  </a:lnTo>
                  <a:lnTo>
                    <a:pt x="0" y="140992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4412" t="0" r="-1441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66903" y="4208640"/>
            <a:ext cx="4689681" cy="38100"/>
            <a:chOff x="0" y="0"/>
            <a:chExt cx="6252908" cy="50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5400" y="0"/>
              <a:ext cx="6202045" cy="50800"/>
            </a:xfrm>
            <a:custGeom>
              <a:avLst/>
              <a:gdLst/>
              <a:ahLst/>
              <a:cxnLst/>
              <a:rect r="r" b="b" t="t" l="l"/>
              <a:pathLst>
                <a:path h="50800" w="6202045">
                  <a:moveTo>
                    <a:pt x="0" y="0"/>
                  </a:moveTo>
                  <a:lnTo>
                    <a:pt x="6202045" y="0"/>
                  </a:lnTo>
                  <a:lnTo>
                    <a:pt x="620204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5A80E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8053" y="7534170"/>
            <a:ext cx="4689681" cy="38100"/>
            <a:chOff x="0" y="0"/>
            <a:chExt cx="6252908" cy="50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0"/>
              <a:ext cx="6202045" cy="50800"/>
            </a:xfrm>
            <a:custGeom>
              <a:avLst/>
              <a:gdLst/>
              <a:ahLst/>
              <a:cxnLst/>
              <a:rect r="r" b="b" t="t" l="l"/>
              <a:pathLst>
                <a:path h="50800" w="6202045">
                  <a:moveTo>
                    <a:pt x="0" y="0"/>
                  </a:moveTo>
                  <a:lnTo>
                    <a:pt x="6202045" y="0"/>
                  </a:lnTo>
                  <a:lnTo>
                    <a:pt x="620204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5A80E8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894169" y="4503153"/>
            <a:ext cx="447075" cy="489823"/>
          </a:xfrm>
          <a:custGeom>
            <a:avLst/>
            <a:gdLst/>
            <a:ahLst/>
            <a:cxnLst/>
            <a:rect r="r" b="b" t="t" l="l"/>
            <a:pathLst>
              <a:path h="489823" w="447075">
                <a:moveTo>
                  <a:pt x="0" y="0"/>
                </a:moveTo>
                <a:lnTo>
                  <a:pt x="447075" y="0"/>
                </a:lnTo>
                <a:lnTo>
                  <a:pt x="447075" y="489823"/>
                </a:lnTo>
                <a:lnTo>
                  <a:pt x="0" y="4898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491" r="0" b="-49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733901" y="6076721"/>
            <a:ext cx="746455" cy="476374"/>
          </a:xfrm>
          <a:custGeom>
            <a:avLst/>
            <a:gdLst/>
            <a:ahLst/>
            <a:cxnLst/>
            <a:rect r="r" b="b" t="t" l="l"/>
            <a:pathLst>
              <a:path h="476374" w="746455">
                <a:moveTo>
                  <a:pt x="746455" y="0"/>
                </a:moveTo>
                <a:lnTo>
                  <a:pt x="0" y="0"/>
                </a:lnTo>
                <a:lnTo>
                  <a:pt x="0" y="476374"/>
                </a:lnTo>
                <a:lnTo>
                  <a:pt x="746455" y="476374"/>
                </a:lnTo>
                <a:lnTo>
                  <a:pt x="74645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577" r="0" b="-579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9243240">
            <a:off x="809320" y="7844914"/>
            <a:ext cx="616763" cy="616763"/>
          </a:xfrm>
          <a:custGeom>
            <a:avLst/>
            <a:gdLst/>
            <a:ahLst/>
            <a:cxnLst/>
            <a:rect r="r" b="b" t="t" l="l"/>
            <a:pathLst>
              <a:path h="616763" w="616763">
                <a:moveTo>
                  <a:pt x="0" y="0"/>
                </a:moveTo>
                <a:lnTo>
                  <a:pt x="616763" y="0"/>
                </a:lnTo>
                <a:lnTo>
                  <a:pt x="616763" y="616763"/>
                </a:lnTo>
                <a:lnTo>
                  <a:pt x="0" y="6167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17706" y="8829675"/>
            <a:ext cx="2276146" cy="3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true">
                <a:solidFill>
                  <a:srgbClr val="18668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NLWA / WRAP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6903" y="1255890"/>
            <a:ext cx="5593490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9"/>
              </a:lnSpc>
            </a:pPr>
          </a:p>
          <a:p>
            <a:pPr algn="ctr">
              <a:lnSpc>
                <a:spcPts val="10558"/>
              </a:lnSpc>
            </a:pPr>
            <a:r>
              <a:rPr lang="en-US" sz="8799" b="true">
                <a:solidFill>
                  <a:srgbClr val="5A80E8"/>
                </a:solidFill>
                <a:latin typeface="Poppins Bold"/>
                <a:ea typeface="Poppins Bold"/>
                <a:cs typeface="Poppins Bold"/>
                <a:sym typeface="Poppins Bold"/>
              </a:rPr>
              <a:t>22 Million </a:t>
            </a:r>
          </a:p>
          <a:p>
            <a:pPr algn="ctr">
              <a:lnSpc>
                <a:spcPts val="4399"/>
              </a:lnSpc>
            </a:pPr>
          </a:p>
          <a:p>
            <a:pPr algn="ctr">
              <a:lnSpc>
                <a:spcPts val="439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97103" y="1093965"/>
            <a:ext cx="324613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5A80E8"/>
                </a:solidFill>
                <a:latin typeface="Poppins Bold"/>
                <a:ea typeface="Poppins Bold"/>
                <a:cs typeface="Poppins Bold"/>
                <a:sym typeface="Poppins Bold"/>
              </a:rPr>
              <a:t>In the UK alone,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7103" y="3113265"/>
            <a:ext cx="4632931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799" b="true">
                <a:solidFill>
                  <a:srgbClr val="5A80E8"/>
                </a:solidFill>
                <a:latin typeface="Poppins Bold"/>
                <a:ea typeface="Poppins Bold"/>
                <a:cs typeface="Poppins Bold"/>
                <a:sym typeface="Poppins Bold"/>
              </a:rPr>
              <a:t>pieces of furniture hit a landfill each year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88960" y="4395635"/>
            <a:ext cx="239107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 b="true">
                <a:solidFill>
                  <a:srgbClr val="5A80E8"/>
                </a:solidFill>
                <a:latin typeface="Poppins Bold"/>
                <a:ea typeface="Poppins Bold"/>
                <a:cs typeface="Poppins Bold"/>
                <a:sym typeface="Poppins Bold"/>
              </a:rPr>
              <a:t>670,000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84992" y="5171970"/>
            <a:ext cx="201438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A80E8"/>
                </a:solidFill>
                <a:latin typeface="Poppins"/>
                <a:ea typeface="Poppins"/>
                <a:cs typeface="Poppins"/>
                <a:sym typeface="Poppins"/>
              </a:rPr>
              <a:t>tonnes of waste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8388" y="5905395"/>
            <a:ext cx="341977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5A80E8"/>
                </a:solidFill>
                <a:latin typeface="Poppins"/>
                <a:ea typeface="Poppins"/>
                <a:cs typeface="Poppins"/>
                <a:sym typeface="Poppins"/>
              </a:rPr>
              <a:t>Enough furniture to fill a convoy stretching from London to Edinburgh </a:t>
            </a:r>
            <a:r>
              <a:rPr lang="en-US" sz="2199" b="true">
                <a:solidFill>
                  <a:srgbClr val="5A80E8"/>
                </a:solidFill>
                <a:latin typeface="Poppins Bold"/>
                <a:ea typeface="Poppins Bold"/>
                <a:cs typeface="Poppins Bold"/>
                <a:sym typeface="Poppins Bold"/>
              </a:rPr>
              <a:t>every single year!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65122" y="7781820"/>
            <a:ext cx="2338197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5A80E8"/>
                </a:solidFill>
                <a:latin typeface="Poppins"/>
                <a:ea typeface="Poppins"/>
                <a:cs typeface="Poppins"/>
                <a:sym typeface="Poppins"/>
              </a:rPr>
              <a:t>And over half was still usable!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4913" r="0" b="-2491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" r="0" b="-26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110835" y="2361838"/>
            <a:ext cx="5212080" cy="4237444"/>
            <a:chOff x="0" y="0"/>
            <a:chExt cx="6949440" cy="56499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49440" cy="5649976"/>
            </a:xfrm>
            <a:custGeom>
              <a:avLst/>
              <a:gdLst/>
              <a:ahLst/>
              <a:cxnLst/>
              <a:rect r="r" b="b" t="t" l="l"/>
              <a:pathLst>
                <a:path h="5649976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5649976"/>
                  </a:lnTo>
                  <a:lnTo>
                    <a:pt x="0" y="5649976"/>
                  </a:lnTo>
                  <a:close/>
                </a:path>
              </a:pathLst>
            </a:custGeom>
            <a:solidFill>
              <a:srgbClr val="1C294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34290"/>
            <a:ext cx="18960998" cy="10594457"/>
            <a:chOff x="0" y="0"/>
            <a:chExt cx="25281331" cy="141259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281382" cy="14125956"/>
            </a:xfrm>
            <a:custGeom>
              <a:avLst/>
              <a:gdLst/>
              <a:ahLst/>
              <a:cxnLst/>
              <a:rect r="r" b="b" t="t" l="l"/>
              <a:pathLst>
                <a:path h="14125956" w="25281382">
                  <a:moveTo>
                    <a:pt x="0" y="0"/>
                  </a:moveTo>
                  <a:lnTo>
                    <a:pt x="25281382" y="0"/>
                  </a:lnTo>
                  <a:lnTo>
                    <a:pt x="25281382" y="14125956"/>
                  </a:lnTo>
                  <a:lnTo>
                    <a:pt x="0" y="14125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4" t="0" r="-54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689462"/>
          </a:xfrm>
          <a:custGeom>
            <a:avLst/>
            <a:gdLst/>
            <a:ahLst/>
            <a:cxnLst/>
            <a:rect r="r" b="b" t="t" l="l"/>
            <a:pathLst>
              <a:path h="10689462" w="18288000">
                <a:moveTo>
                  <a:pt x="0" y="0"/>
                </a:moveTo>
                <a:lnTo>
                  <a:pt x="18288000" y="0"/>
                </a:lnTo>
                <a:lnTo>
                  <a:pt x="18288000" y="10689462"/>
                </a:lnTo>
                <a:lnTo>
                  <a:pt x="0" y="106894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56" t="0" r="-1956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6112" y="0"/>
            <a:ext cx="19128751" cy="10759922"/>
          </a:xfrm>
          <a:custGeom>
            <a:avLst/>
            <a:gdLst/>
            <a:ahLst/>
            <a:cxnLst/>
            <a:rect r="r" b="b" t="t" l="l"/>
            <a:pathLst>
              <a:path h="10759922" w="19128751">
                <a:moveTo>
                  <a:pt x="0" y="0"/>
                </a:moveTo>
                <a:lnTo>
                  <a:pt x="19128751" y="0"/>
                </a:lnTo>
                <a:lnTo>
                  <a:pt x="19128751" y="10759922"/>
                </a:lnTo>
                <a:lnTo>
                  <a:pt x="0" y="10759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1831" y="-329289"/>
            <a:ext cx="18471671" cy="11286706"/>
            <a:chOff x="0" y="0"/>
            <a:chExt cx="24628894" cy="150489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28856" cy="15048992"/>
            </a:xfrm>
            <a:custGeom>
              <a:avLst/>
              <a:gdLst/>
              <a:ahLst/>
              <a:cxnLst/>
              <a:rect r="r" b="b" t="t" l="l"/>
              <a:pathLst>
                <a:path h="15048992" w="24628856">
                  <a:moveTo>
                    <a:pt x="0" y="0"/>
                  </a:moveTo>
                  <a:lnTo>
                    <a:pt x="24628856" y="0"/>
                  </a:lnTo>
                  <a:lnTo>
                    <a:pt x="24628856" y="15048992"/>
                  </a:lnTo>
                  <a:lnTo>
                    <a:pt x="0" y="15048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360" t="0" r="-436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4913" r="0" b="-2491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" r="0" b="-26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67690" y="35751"/>
            <a:ext cx="2414671" cy="2371220"/>
            <a:chOff x="0" y="0"/>
            <a:chExt cx="2721483" cy="26725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21483" cy="2672461"/>
            </a:xfrm>
            <a:custGeom>
              <a:avLst/>
              <a:gdLst/>
              <a:ahLst/>
              <a:cxnLst/>
              <a:rect r="r" b="b" t="t" l="l"/>
              <a:pathLst>
                <a:path h="2672461" w="2721483">
                  <a:moveTo>
                    <a:pt x="407940" y="0"/>
                  </a:moveTo>
                  <a:lnTo>
                    <a:pt x="2313543" y="0"/>
                  </a:lnTo>
                  <a:cubicBezTo>
                    <a:pt x="2421735" y="0"/>
                    <a:pt x="2525496" y="42979"/>
                    <a:pt x="2602000" y="119483"/>
                  </a:cubicBezTo>
                  <a:cubicBezTo>
                    <a:pt x="2678504" y="195986"/>
                    <a:pt x="2721483" y="299748"/>
                    <a:pt x="2721483" y="407940"/>
                  </a:cubicBezTo>
                  <a:lnTo>
                    <a:pt x="2721483" y="2264521"/>
                  </a:lnTo>
                  <a:cubicBezTo>
                    <a:pt x="2721483" y="2489820"/>
                    <a:pt x="2538842" y="2672461"/>
                    <a:pt x="2313543" y="2672461"/>
                  </a:cubicBezTo>
                  <a:lnTo>
                    <a:pt x="407940" y="2672461"/>
                  </a:lnTo>
                  <a:cubicBezTo>
                    <a:pt x="182641" y="2672461"/>
                    <a:pt x="0" y="2489820"/>
                    <a:pt x="0" y="2264521"/>
                  </a:cubicBezTo>
                  <a:lnTo>
                    <a:pt x="0" y="407940"/>
                  </a:lnTo>
                  <a:cubicBezTo>
                    <a:pt x="0" y="182641"/>
                    <a:pt x="182641" y="0"/>
                    <a:pt x="40794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916" r="0" b="-918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39464" y="35751"/>
            <a:ext cx="16299265" cy="10385464"/>
          </a:xfrm>
          <a:custGeom>
            <a:avLst/>
            <a:gdLst/>
            <a:ahLst/>
            <a:cxnLst/>
            <a:rect r="r" b="b" t="t" l="l"/>
            <a:pathLst>
              <a:path h="10385464" w="16299265">
                <a:moveTo>
                  <a:pt x="0" y="0"/>
                </a:moveTo>
                <a:lnTo>
                  <a:pt x="16299265" y="0"/>
                </a:lnTo>
                <a:lnTo>
                  <a:pt x="16299265" y="10385464"/>
                </a:lnTo>
                <a:lnTo>
                  <a:pt x="0" y="103854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514350" y="4753787"/>
            <a:ext cx="3086100" cy="5667428"/>
            <a:chOff x="0" y="0"/>
            <a:chExt cx="812800" cy="14926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492656"/>
            </a:xfrm>
            <a:custGeom>
              <a:avLst/>
              <a:gdLst/>
              <a:ahLst/>
              <a:cxnLst/>
              <a:rect r="r" b="b" t="t" l="l"/>
              <a:pathLst>
                <a:path h="1492656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92656"/>
                  </a:lnTo>
                  <a:lnTo>
                    <a:pt x="0" y="1492656"/>
                  </a:lnTo>
                  <a:close/>
                </a:path>
              </a:pathLst>
            </a:custGeom>
            <a:solidFill>
              <a:srgbClr val="F9F9F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1530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t="0" r="-223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DAHK32071cY</dc:identifier>
  <dcterms:modified xsi:type="dcterms:W3CDTF">2011-08-01T06:04:30Z</dcterms:modified>
  <cp:revision>1</cp:revision>
  <dc:title>Copy of AI/ML Lead, Computer Vision Expert</dc:title>
</cp:coreProperties>
</file>